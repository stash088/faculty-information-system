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640080"/>
            <a:ext cx="822960" cy="82296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АГУ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2222"/>
                </a:solidFill>
                <a:latin typeface="Georgia"/>
              </a:rPr>
              <a:t>Информационный ресурс для информационной поддержки и методического сопровождения образовательной деятельности Института точных наук и цифровых технологий АГУ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Georgia"/>
              </a:rPr>
              <a:t>Выпускная квалификационная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Студент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Кузьминова А.А.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Научный руководитель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Arial"/>
              </a:rPr>
              <a:t>доцент В.В. Бучацкая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Arial"/>
              </a:rPr>
              <a:t>Направление 02.03.03 — Математическое обеспечение и администрирование информационных систем
Адыгейский государственный университет · Майкоп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ПРОБЛЕМАТИКА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Проблемы существующей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303520" cy="1280160"/>
          </a:xfrm>
          <a:prstGeom prst="rect">
            <a:avLst/>
          </a:prstGeom>
          <a:solidFill>
            <a:srgbClr val="FFF5F5"/>
          </a:solidFill>
          <a:ln w="190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5621"/>
                </a:solidFill>
                <a:latin typeface="Arial"/>
              </a:rPr>
              <a:t>Дублирование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Разрозненные решения: сайт, соцсети, почтовые рассылки, файлы. Отсутствие согласованности данных.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1280160"/>
          </a:xfrm>
          <a:prstGeom prst="rect">
            <a:avLst/>
          </a:prstGeom>
          <a:solidFill>
            <a:srgbClr val="FFF5F5"/>
          </a:solidFill>
          <a:ln w="190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5621"/>
                </a:solidFill>
                <a:latin typeface="Arial"/>
              </a:rPr>
              <a:t>Трудности поиска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Нет централизованного хранилища учебно-методических материалов. Преподаватели вынуждены искать в разных местах.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5303520" cy="1280160"/>
          </a:xfrm>
          <a:prstGeom prst="rect">
            <a:avLst/>
          </a:prstGeom>
          <a:solidFill>
            <a:srgbClr val="FFF5F5"/>
          </a:solidFill>
          <a:ln w="190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5621"/>
                </a:solidFill>
                <a:latin typeface="Arial"/>
              </a:rPr>
              <a:t>Отсутствие единого доступа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Нет централизованного управления доступом к информационным ресурсам Института.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303520" cy="1280160"/>
          </a:xfrm>
          <a:prstGeom prst="rect">
            <a:avLst/>
          </a:prstGeom>
          <a:solidFill>
            <a:srgbClr val="FFF5F5"/>
          </a:solidFill>
          <a:ln w="190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67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5621"/>
                </a:solidFill>
                <a:latin typeface="Arial"/>
              </a:rPr>
              <a:t>Высокая трудоёмкость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Ручная координация данных, отсутствие автоматизации управленческих процессов.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Цель и задачи ВКР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282"/>
                </a:solidFill>
                <a:latin typeface="Arial"/>
              </a:rPr>
              <a:t>Цель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530352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Georgia"/>
              </a:rPr>
              <a:t>Разработка информационного ресурса для комплексной информационной поддержки и методического сопровождения образовательной деятельности Института точных наук и цифровых технологий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282"/>
                </a:solidFill>
                <a:latin typeface="Arial"/>
              </a:rPr>
              <a:t>Задачи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2057400"/>
            <a:ext cx="292608" cy="292608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848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Arial"/>
              </a:rPr>
              <a:t>Анализ предметной области и информационных потоков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2770632"/>
            <a:ext cx="292608" cy="292608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79806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Arial"/>
              </a:rPr>
              <a:t>Проектирование архитектуры системы и базы данных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3483864"/>
            <a:ext cx="292608" cy="292608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1129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Arial"/>
              </a:rPr>
              <a:t>Реализация серверной и клиентской частей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4197096"/>
            <a:ext cx="292608" cy="292608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224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Arial"/>
              </a:rPr>
              <a:t>Обеспечение безопасности и разграничение прав доступа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4910328"/>
            <a:ext cx="292608" cy="292608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Arial"/>
              </a:rPr>
              <a:t>Тестирование разработанной системы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27432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Frontend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</a:rPr>
              <a:t>React + Redux + MUI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62573120000" y="2560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555555"/>
                </a:solidFill>
              </a:rPr>
              <a:t>⇔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2286000"/>
            <a:ext cx="2743200" cy="1005840"/>
          </a:xfrm>
          <a:prstGeom prst="rect">
            <a:avLst/>
          </a:prstGeom>
          <a:solidFill>
            <a:srgbClr val="E8F0F8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5282"/>
                </a:solidFill>
                <a:latin typeface="Arial"/>
              </a:rPr>
              <a:t>API Gateway</a:t>
            </a:r>
          </a:p>
          <a:p>
            <a:pPr algn="ctr"/>
            <a:r>
              <a:rPr sz="1400" b="0">
                <a:solidFill>
                  <a:srgbClr val="2C5282"/>
                </a:solidFill>
                <a:latin typeface="Arial"/>
              </a:rPr>
              <a:t>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74308032000" y="2560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555555"/>
                </a:solidFill>
              </a:rPr>
              <a:t>⇔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2286000"/>
            <a:ext cx="27432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Backend</a:t>
            </a:r>
          </a:p>
          <a:p>
            <a:pPr algn="ctr"/>
            <a:r>
              <a:rPr sz="1400" b="0">
                <a:solidFill>
                  <a:srgbClr val="222222"/>
                </a:solidFill>
                <a:latin typeface="Arial"/>
              </a:rPr>
              <a:t>Node.js +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337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555555"/>
                </a:solidFill>
                <a:latin typeface="Georgia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31920"/>
            <a:ext cx="32004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latin typeface="Arial"/>
              </a:rPr>
              <a:t>PostgreSQL</a:t>
            </a:r>
          </a:p>
          <a:p>
            <a:pPr algn="ctr"/>
            <a:r>
              <a:rPr sz="1500">
                <a:solidFill>
                  <a:srgbClr val="555555"/>
                </a:solidFill>
                <a:latin typeface="Arial"/>
              </a:rPr>
              <a:t>Реляционная СУБД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32004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latin typeface="Arial"/>
              </a:rPr>
              <a:t>Winston</a:t>
            </a:r>
          </a:p>
          <a:p>
            <a:pPr algn="ctr"/>
            <a:r>
              <a:rPr sz="1500">
                <a:solidFill>
                  <a:srgbClr val="555555"/>
                </a:solidFill>
                <a:latin typeface="Arial"/>
              </a:rPr>
              <a:t>Логирование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282"/>
                </a:solidFill>
                <a:latin typeface="Arial"/>
              </a:rPr>
              <a:t>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53035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50008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21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Node.js 16+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Асинхронное выполнение I/O-операций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3035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90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29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REST API, middleware, роутинг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53035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87368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59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Sequelize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Модели данных, миграции, связи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79"/>
            <a:ext cx="53035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56047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280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6635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Реляционная СУБД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282"/>
                </a:solidFill>
                <a:latin typeface="Arial"/>
              </a:rP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148840"/>
            <a:ext cx="50292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2350008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221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React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560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UI-компоненты, хуки, контекст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017520"/>
            <a:ext cx="50292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3218688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090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Redux Toolkit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429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Централизованное состояние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86200"/>
            <a:ext cx="50292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4087368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959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Material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Компонентная библиотека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754879"/>
            <a:ext cx="50292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4956047"/>
            <a:ext cx="91440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8280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latin typeface="Arial"/>
              </a:rPr>
              <a:t>Vite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16635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Быстрая сборка и HMR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БАЗА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Структура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3657600" cy="117043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305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048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919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3657600" cy="117043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278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021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764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3657600" cy="144475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2511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department_id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4807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508760"/>
            <a:ext cx="3657600" cy="226771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508760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8562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1305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4048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password_hash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67919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first_name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95351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last_name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2278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role_id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5021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department_id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886200"/>
            <a:ext cx="3657600" cy="117043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886200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2336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50799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course_id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78231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date, time, room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1783080"/>
            <a:ext cx="3657600" cy="144475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1783080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1305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4048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67919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course_id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95351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year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880360"/>
            <a:ext cx="3657600" cy="144475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0" y="2880360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Material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2278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5021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title, file_path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77647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user_id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05079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course_id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977639"/>
            <a:ext cx="3657600" cy="1170432"/>
          </a:xfrm>
          <a:prstGeom prst="rect">
            <a:avLst/>
          </a:prstGeom>
          <a:solidFill>
            <a:srgbClr val="F5F5F5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3977639"/>
            <a:ext cx="3657600" cy="34747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News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432511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ourier New"/>
              </a:rPr>
              <a:t>PK 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59943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22222"/>
                </a:solidFill>
                <a:latin typeface="Courier New"/>
              </a:rPr>
              <a:t>title, content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87375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276749"/>
                </a:solidFill>
                <a:latin typeface="Courier New"/>
              </a:rPr>
              <a:t>FK  author_id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Механизмы безопасности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4747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282"/>
                </a:solidFill>
                <a:latin typeface="Arial"/>
              </a:rPr>
              <a:t>Аутентификация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JWT-токены с refresh rotation. Хеширование паролей алгоритмом bcryptjs.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737360"/>
            <a:ext cx="34747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282"/>
                </a:solidFill>
                <a:latin typeface="Arial"/>
              </a:rPr>
              <a:t>Авторизация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RBAC с ролями и middleware-проверками. Защита маршрутов на уровне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737360"/>
            <a:ext cx="34747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282"/>
                </a:solidFill>
                <a:latin typeface="Arial"/>
              </a:rPr>
              <a:t>Защита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Helmet для HTTP-заголовков. Rate-limiting. CORS. Валидация входных данных.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5603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5282"/>
                </a:solidFill>
                <a:latin typeface="Arial"/>
              </a:rPr>
              <a:t>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Arial"/>
              </a:rPr>
              <a:t>Access + Refresh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291840"/>
            <a:ext cx="25603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5282"/>
                </a:solidFill>
                <a:latin typeface="Arial"/>
              </a:rPr>
              <a:t>bcrypt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Arial"/>
              </a:rPr>
              <a:t>Хеширование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91840"/>
            <a:ext cx="25603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5282"/>
                </a:solidFill>
                <a:latin typeface="Arial"/>
              </a:rPr>
              <a:t>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Arial"/>
              </a:rPr>
              <a:t>4 роли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3291840"/>
            <a:ext cx="25603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5282"/>
                </a:solidFill>
                <a:latin typeface="Arial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Arial"/>
              </a:rPr>
              <a:t>req/min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ПОЛЬЗОВАТЕЛИ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Роли и функционал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4300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0992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Функционал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114300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C5282"/>
                </a:solidFill>
                <a:latin typeface="Arial"/>
              </a:rPr>
              <a:t>Студент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Просмотр расписания, доступ к учебным материалам, просмотр новостей, личный кабинет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10710404840"/>
            <a:ext cx="11430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7107105420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C5282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71071054200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Управление материалами курсов, создание объявлений, редактирование курсов, просмотр статистики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421418660840"/>
            <a:ext cx="114300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4214187980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C5282"/>
                </a:solidFill>
                <a:latin typeface="Arial"/>
              </a:rPr>
              <a:t>Методист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42141879800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Модерирование контента, управление кафедрами, контроль качества учебных материалов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32126916840"/>
            <a:ext cx="11430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321270540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C5282"/>
                </a:solidFill>
                <a:latin typeface="Arial"/>
              </a:rPr>
              <a:t>Администратор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13212705400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Полный доступ: управление пользователями, ролями, системными настройками, просмотр логов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Демонстрация работы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530352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● ● ●</a:t>
            </a:r>
          </a:p>
        </p:txBody>
      </p:sp>
      <p:pic>
        <p:nvPicPr>
          <p:cNvPr id="6" name="Picture 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12064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282"/>
                </a:solidFill>
                <a:latin typeface="Arial"/>
              </a:rPr>
              <a:t>Ключевые возможности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— Интуитивный интерфейс для всех ролей пользователей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— Централизованное хранение учебных материалов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— Оперативное обновление расписания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— Система уведомлений и объявлений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— Администрирование и мониторинг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Панель управления (Dashboard)</a:t>
            </a:r>
          </a:p>
        </p:txBody>
      </p:sp>
      <p:pic>
        <p:nvPicPr>
          <p:cNvPr id="4" name="Picture 3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3736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Arial"/>
              </a:rPr>
              <a:t>Централизованная панель со статистикой, быстрыми ссылками и уведомлениями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Расписание занятий</a:t>
            </a:r>
          </a:p>
        </p:txBody>
      </p:sp>
      <p:pic>
        <p:nvPicPr>
          <p:cNvPr id="4" name="Picture 3" descr="03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3736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Arial"/>
              </a:rPr>
              <a:t>Фильтрация по группам, датам и аудиториям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Учебные материалы</a:t>
            </a:r>
          </a:p>
        </p:txBody>
      </p:sp>
      <p:pic>
        <p:nvPicPr>
          <p:cNvPr id="4" name="Picture 3" descr="04_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3736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Arial"/>
              </a:rPr>
              <a:t>Каталог с поиском и категоризацией по дисциплинам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C5282"/>
                </a:solidFill>
                <a:latin typeface="Georgia"/>
              </a:rPr>
              <a:t>Новости и объявления</a:t>
            </a:r>
          </a:p>
        </p:txBody>
      </p:sp>
      <p:pic>
        <p:nvPicPr>
          <p:cNvPr id="4" name="Picture 3" descr="06_n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3736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Arial"/>
              </a:rPr>
              <a:t>Лента объявлений с возможностью модерирования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2103120"/>
            <a:ext cx="1005840" cy="100584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2222"/>
                </a:solidFill>
                <a:latin typeface="Georgia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